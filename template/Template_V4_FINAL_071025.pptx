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4"/>
  </p:sldMasterIdLst>
  <p:notesMasterIdLst>
    <p:notesMasterId r:id="rId6"/>
  </p:notesMasterIdLst>
  <p:handoutMasterIdLst>
    <p:handoutMasterId r:id="rId7"/>
  </p:handoutMasterIdLst>
  <p:sldIdLst>
    <p:sldId id="297" r:id="rId5"/>
  </p:sldIdLst>
  <p:sldSz cx="9144000" cy="5143500" type="screen16x9"/>
  <p:notesSz cx="6735763" cy="98663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181" userDrawn="1">
          <p15:clr>
            <a:srgbClr val="A4A3A4"/>
          </p15:clr>
        </p15:guide>
        <p15:guide id="6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B73D02-A4DE-54AD-BB52-3DE1F5E42E0C}" name="Julien Normand" initials="JN" userId="S::julnorma@publicisgroupe.net::c252805d-673b-4d0c-a2bc-c961c120ada8" providerId="AD"/>
  <p188:author id="{B7B68D07-B9FF-3EEB-A797-7B23EAF0F91C}" name="Jenny O'Doherty" initials="JO" userId="S::jenodohe@publicisgroupe.net::81b8a037-e77f-4430-91b8-0c464d5fd9b1" providerId="AD"/>
  <p188:author id="{5E199C07-8F4D-5BE4-10F6-C2B1C74667E7}" name="Laura Lagatta" initials="" userId="S::laulagat1@publicisgroupe.net::5681c35d-5bab-4af8-8e1b-2d95f711f89a" providerId="AD"/>
  <p188:author id="{89EC4D0B-147A-904F-65AD-1AAA77180948}" name="Catarina Santos" initials="CS" userId="S::csantos4@publicisgroupe.net::0e2b275d-7d99-422e-88d4-8c63fb7aa43e" providerId="AD"/>
  <p188:author id="{648D410E-3F38-62F9-2EE4-342CBB91A71D}" name="Dennis May" initials="" userId="Anonymous_Dennis May" providerId="None"/>
  <p188:author id="{A1609413-CC23-5DF2-4393-0CCBD8B248B9}" name="Thaer Namruti" initials="TN" userId="S::thanamru@publicisgroupe.net::0e540dd0-fdf9-43ba-b4ad-d7bc8c6897d7" providerId="AD"/>
  <p188:author id="{A4E67024-1037-CCD8-1F1F-94407375835E}" name="James Douglas" initials="JD" userId="S::jamdougl@publicisgroupe.net::99f1d016-bef2-4648-9554-fb1d061a072f" providerId="AD"/>
  <p188:author id="{B1C7EF26-2B18-F69C-3E71-56CD44A4DE0D}" name="Julien Buckley" initials="" userId="S::julbuckl@publicisgroupe.net::7eea59d0-eaef-4083-ab9a-0b31e6a2c151" providerId="AD"/>
  <p188:author id="{1B068E48-7B40-9FE1-7C17-BC0E20B76CF3}" name="Ann Reilly" initials="" userId="S::annreill1@publicisgroupe.net::4208c721-8343-4423-9584-feac4fa1c90e" providerId="AD"/>
  <p188:author id="{22DA3150-FC2F-6840-C44B-5C47C7D06544}" name="Katriona Connolly" initials="KC" userId="S::katconno1@publicisgroupe.net::cda9a14c-2406-4211-a225-9080dd5d5889" providerId="AD"/>
  <p188:author id="{9C075150-E460-5BDD-348C-A7E51BC71299}" name="Greg Georgiades" initials="GG" userId="S::gregeorg1@publicisgroupe.net::1c9e5364-dceb-4bd6-8ca5-9495cb221405" providerId="AD"/>
  <p188:author id="{CF077563-7F92-BD45-0527-CB3EACFD81C2}" name="Gladys Jeffrey" initials="GJ" userId="S::glamania@publicisgroupe.net::d3f9217a-2e16-405e-9057-b7ac6a81b121" providerId="AD"/>
  <p188:author id="{65DD466B-239F-0D34-7965-B6A45ED7207E}" name="Kristina von Gerichten" initials="KvG" userId="S::krivonge@publicisgroupe.net::f1bb0e50-3198-4c71-aa8a-8d341f549298" providerId="AD"/>
  <p188:author id="{81AA2185-3D1A-0629-4A13-8CF24244940E}" name="Delarnee Goh" initials="DG" userId="S::dgoh@publicisgroupe.net::f824d95a-88c8-4f1e-8cd8-8e2d5aa07f40" providerId="AD"/>
  <p188:author id="{6ADE5489-B298-0595-CD61-3CE1080971EC}" name="Adriana Matyaskova" initials="AM" userId="S::adrmatya@publicisgroupe.net::667996bb-934f-4659-a39a-e955162189cd" providerId="AD"/>
  <p188:author id="{5A09238A-C647-7445-4167-297E8763D4C8}" name="Navaneeta Das Skinner" initials="NS" userId="S::navdas@publicisgroupe.net::c299b7e9-41c3-49df-b05a-a8969e3f6e45" providerId="AD"/>
  <p188:author id="{2ACE27A4-0C75-D1A3-5AF1-3731BE0F1222}" name="Michelle Hobbs" initials="MH" userId="S::michobbs@publicisgroupe.net::3696f1c2-57f9-4406-bfc0-f98d84e2d3a3" providerId="AD"/>
  <p188:author id="{245B33AA-D64F-5747-3E5D-529F966911D7}" name="Chris Brown" initials="CB" userId="S::chrbrown13@publicisgroupe.net::ee87e80a-cebe-4673-af41-b209e8f65e72" providerId="AD"/>
  <p188:author id="{463177B1-09A3-1BE2-D2C4-2DF305625EFB}" name="Chris Potter" initials="CP" userId="S::chrpotte1@publicisgroupe.net::ce9226ad-c9c9-45d4-a021-7b367763cb5a" providerId="AD"/>
  <p188:author id="{7613E5C4-8171-12FA-7055-49892EFD7F0F}" name="Warren Griffiths" initials="WG" userId="S::wgriffit@publicisgroupe.net::12191609-1805-477e-8ac8-b46761c68526" providerId="AD"/>
  <p188:author id="{42707BE8-D62C-E807-8FA7-8D1D49D0C577}" name="Lee McEwan" initials="" userId="S::leemcewa@publicisgroupe.net::7fcf2eda-5c31-498d-90b1-3a019c3d7a82" providerId="AD"/>
  <p188:author id="{E6F218ED-8C37-E46C-A84E-8E3ECC1B9731}" name="Bella" initials="BH" userId="Bella" providerId="None"/>
  <p188:author id="{6CC19FEF-9F7F-4CFB-317F-E476829297DB}" name="Atul Amist" initials="" userId="S::atuamist@publicisgroupe.net::8eb173af-90dc-49e0-9670-a115dc8d6df9" providerId="AD"/>
  <p188:author id="{4293C7FA-95AD-20E9-34F6-17ADA9DEE895}" name="Claire Molyneux" initials="CM" userId="S::clamolyn@publicisgroupe.net::c4103db4-4832-43c0-83c7-578ae3bd4f3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is May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A602"/>
    <a:srgbClr val="B0D3FF"/>
    <a:srgbClr val="FFD961"/>
    <a:srgbClr val="FDF2B7"/>
    <a:srgbClr val="FFE389"/>
    <a:srgbClr val="71D48D"/>
    <a:srgbClr val="30EA03"/>
    <a:srgbClr val="BFBFBF"/>
    <a:srgbClr val="FFBF00"/>
    <a:srgbClr val="FF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30" autoAdjust="0"/>
    <p:restoredTop sz="97066" autoAdjust="0"/>
  </p:normalViewPr>
  <p:slideViewPr>
    <p:cSldViewPr snapToGrid="0">
      <p:cViewPr varScale="1">
        <p:scale>
          <a:sx n="174" d="100"/>
          <a:sy n="174" d="100"/>
        </p:scale>
        <p:origin x="264" y="341"/>
      </p:cViewPr>
      <p:guideLst>
        <p:guide pos="18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008" y="9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 Grama" userId="db34ce45-654d-4754-82bf-761856adf311" providerId="ADAL" clId="{E52AECF6-3AED-4C55-A416-C26FC0C1CDC5}"/>
    <pc:docChg chg="custSel modSld">
      <pc:chgData name="Alexandru Grama" userId="db34ce45-654d-4754-82bf-761856adf311" providerId="ADAL" clId="{E52AECF6-3AED-4C55-A416-C26FC0C1CDC5}" dt="2025-10-14T12:30:11.031" v="1" actId="478"/>
      <pc:docMkLst>
        <pc:docMk/>
      </pc:docMkLst>
      <pc:sldChg chg="delSp modSp mod">
        <pc:chgData name="Alexandru Grama" userId="db34ce45-654d-4754-82bf-761856adf311" providerId="ADAL" clId="{E52AECF6-3AED-4C55-A416-C26FC0C1CDC5}" dt="2025-10-14T12:30:11.031" v="1" actId="478"/>
        <pc:sldMkLst>
          <pc:docMk/>
          <pc:sldMk cId="0" sldId="297"/>
        </pc:sldMkLst>
        <pc:spChg chg="del mod">
          <ac:chgData name="Alexandru Grama" userId="db34ce45-654d-4754-82bf-761856adf311" providerId="ADAL" clId="{E52AECF6-3AED-4C55-A416-C26FC0C1CDC5}" dt="2025-10-14T12:30:11.031" v="1" actId="478"/>
          <ac:spMkLst>
            <pc:docMk/>
            <pc:sldMk cId="0" sldId="297"/>
            <ac:spMk id="2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3F8611-B9FC-0A77-C0D4-C19E58083A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106253" tIns="53127" rIns="106253" bIns="53127" rtlCol="0"/>
          <a:lstStyle>
            <a:lvl1pPr algn="l">
              <a:defRPr sz="14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78752-7343-EA6A-DBD2-8E3035D13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854" y="0"/>
            <a:ext cx="2918831" cy="495029"/>
          </a:xfrm>
          <a:prstGeom prst="rect">
            <a:avLst/>
          </a:prstGeom>
        </p:spPr>
        <p:txBody>
          <a:bodyPr vert="horz" lIns="106253" tIns="53127" rIns="106253" bIns="53127" rtlCol="0"/>
          <a:lstStyle>
            <a:lvl1pPr algn="r">
              <a:defRPr sz="1400"/>
            </a:lvl1pPr>
          </a:lstStyle>
          <a:p>
            <a:fld id="{B7D59C00-A96F-4E2B-9B9F-891203D0A33B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A6B0C-8E97-5F5E-F996-9D34D6B9D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106253" tIns="53127" rIns="106253" bIns="53127" rtlCol="0" anchor="b"/>
          <a:lstStyle>
            <a:lvl1pPr algn="l">
              <a:defRPr sz="14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F5A8-1FA3-09B5-ADA1-42EF490232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854" y="9371286"/>
            <a:ext cx="2918831" cy="495028"/>
          </a:xfrm>
          <a:prstGeom prst="rect">
            <a:avLst/>
          </a:prstGeom>
        </p:spPr>
        <p:txBody>
          <a:bodyPr vert="horz" lIns="106253" tIns="53127" rIns="106253" bIns="53127" rtlCol="0" anchor="b"/>
          <a:lstStyle>
            <a:lvl1pPr algn="r">
              <a:defRPr sz="1400"/>
            </a:lvl1pPr>
          </a:lstStyle>
          <a:p>
            <a:fld id="{9245FB09-0522-4328-BB87-243FEF7FA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883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147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473587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7E390-9569-3C29-4919-8E53A8559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6910" y="4869432"/>
            <a:ext cx="223200" cy="223200"/>
          </a:xfrm>
          <a:prstGeom prst="ellipse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6FBFAED-7A3A-4542-8AAB-70678FB3D8A9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2D0483-A514-3BA3-363D-D20F9F172B9D}"/>
              </a:ext>
            </a:extLst>
          </p:cNvPr>
          <p:cNvGrpSpPr/>
          <p:nvPr userDrawn="1"/>
        </p:nvGrpSpPr>
        <p:grpSpPr>
          <a:xfrm>
            <a:off x="6481605" y="286530"/>
            <a:ext cx="793784" cy="200055"/>
            <a:chOff x="6776867" y="370662"/>
            <a:chExt cx="793784" cy="200055"/>
          </a:xfrm>
        </p:grpSpPr>
        <p:sp>
          <p:nvSpPr>
            <p:cNvPr id="8" name="DigitalLegendColor">
              <a:extLst>
                <a:ext uri="{FF2B5EF4-FFF2-40B4-BE49-F238E27FC236}">
                  <a16:creationId xmlns:a16="http://schemas.microsoft.com/office/drawing/2014/main" id="{CFA8EF3D-2AC5-874D-01BB-CF32CED94C98}"/>
                </a:ext>
              </a:extLst>
            </p:cNvPr>
            <p:cNvSpPr/>
            <p:nvPr userDrawn="1"/>
          </p:nvSpPr>
          <p:spPr>
            <a:xfrm>
              <a:off x="6776867" y="403969"/>
              <a:ext cx="236561" cy="127379"/>
            </a:xfrm>
            <a:prstGeom prst="rect">
              <a:avLst/>
            </a:prstGeom>
            <a:solidFill>
              <a:srgbClr val="FDF2B7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15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DigitalLegendText">
              <a:extLst>
                <a:ext uri="{FF2B5EF4-FFF2-40B4-BE49-F238E27FC236}">
                  <a16:creationId xmlns:a16="http://schemas.microsoft.com/office/drawing/2014/main" id="{9BACC63B-2448-8DE1-14DC-E10308577D61}"/>
                </a:ext>
              </a:extLst>
            </p:cNvPr>
            <p:cNvSpPr txBox="1"/>
            <p:nvPr userDrawn="1"/>
          </p:nvSpPr>
          <p:spPr>
            <a:xfrm>
              <a:off x="6953174" y="370662"/>
              <a:ext cx="61747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Calibri" panose="020F0502020204030204" pitchFamily="34" charset="0"/>
                </a:rPr>
                <a:t>DIGITAL</a:t>
              </a:r>
              <a:endParaRPr kumimoji="0" lang="en-150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6E3C88-E97D-A49D-2D26-6F92E8CBED60}"/>
              </a:ext>
            </a:extLst>
          </p:cNvPr>
          <p:cNvGrpSpPr/>
          <p:nvPr userDrawn="1"/>
        </p:nvGrpSpPr>
        <p:grpSpPr>
          <a:xfrm>
            <a:off x="7339798" y="286530"/>
            <a:ext cx="592649" cy="200055"/>
            <a:chOff x="7556607" y="366852"/>
            <a:chExt cx="592649" cy="200055"/>
          </a:xfrm>
        </p:grpSpPr>
        <p:sp>
          <p:nvSpPr>
            <p:cNvPr id="10" name="OOHLegendColor">
              <a:extLst>
                <a:ext uri="{FF2B5EF4-FFF2-40B4-BE49-F238E27FC236}">
                  <a16:creationId xmlns:a16="http://schemas.microsoft.com/office/drawing/2014/main" id="{BC81A909-ADA2-275B-0DC3-84195E91A3EE}"/>
                </a:ext>
              </a:extLst>
            </p:cNvPr>
            <p:cNvSpPr/>
            <p:nvPr userDrawn="1"/>
          </p:nvSpPr>
          <p:spPr>
            <a:xfrm>
              <a:off x="7556607" y="400519"/>
              <a:ext cx="236561" cy="127379"/>
            </a:xfrm>
            <a:prstGeom prst="rect">
              <a:avLst/>
            </a:prstGeom>
            <a:solidFill>
              <a:srgbClr val="FFD96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15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OOHLegendText">
              <a:extLst>
                <a:ext uri="{FF2B5EF4-FFF2-40B4-BE49-F238E27FC236}">
                  <a16:creationId xmlns:a16="http://schemas.microsoft.com/office/drawing/2014/main" id="{C4475D64-4895-6FFB-B61C-5C05BDF7FE03}"/>
                </a:ext>
              </a:extLst>
            </p:cNvPr>
            <p:cNvSpPr txBox="1"/>
            <p:nvPr userDrawn="1"/>
          </p:nvSpPr>
          <p:spPr>
            <a:xfrm>
              <a:off x="7735360" y="366852"/>
              <a:ext cx="41389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Calibri" panose="020F0502020204030204" pitchFamily="34" charset="0"/>
                </a:rPr>
                <a:t>OOH</a:t>
              </a:r>
              <a:endParaRPr kumimoji="0" lang="en-150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41620F-81B9-7EBB-E36A-4DD1546D2D6A}"/>
              </a:ext>
            </a:extLst>
          </p:cNvPr>
          <p:cNvGrpSpPr/>
          <p:nvPr userDrawn="1"/>
        </p:nvGrpSpPr>
        <p:grpSpPr>
          <a:xfrm>
            <a:off x="7996856" y="286530"/>
            <a:ext cx="701433" cy="200055"/>
            <a:chOff x="8149256" y="364180"/>
            <a:chExt cx="701433" cy="200055"/>
          </a:xfrm>
        </p:grpSpPr>
        <p:sp>
          <p:nvSpPr>
            <p:cNvPr id="12" name="OtherLegendColor">
              <a:extLst>
                <a:ext uri="{FF2B5EF4-FFF2-40B4-BE49-F238E27FC236}">
                  <a16:creationId xmlns:a16="http://schemas.microsoft.com/office/drawing/2014/main" id="{A30F6BC4-0A19-F868-5DC9-B29F4453D519}"/>
                </a:ext>
              </a:extLst>
            </p:cNvPr>
            <p:cNvSpPr/>
            <p:nvPr userDrawn="1"/>
          </p:nvSpPr>
          <p:spPr>
            <a:xfrm>
              <a:off x="8149256" y="400519"/>
              <a:ext cx="236561" cy="127379"/>
            </a:xfrm>
            <a:prstGeom prst="rect">
              <a:avLst/>
            </a:prstGeom>
            <a:solidFill>
              <a:srgbClr val="B0D3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15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therLegendText">
              <a:extLst>
                <a:ext uri="{FF2B5EF4-FFF2-40B4-BE49-F238E27FC236}">
                  <a16:creationId xmlns:a16="http://schemas.microsoft.com/office/drawing/2014/main" id="{4A64FDB7-B83B-5A0A-50A7-1E775CA2D325}"/>
                </a:ext>
              </a:extLst>
            </p:cNvPr>
            <p:cNvSpPr txBox="1"/>
            <p:nvPr userDrawn="1"/>
          </p:nvSpPr>
          <p:spPr>
            <a:xfrm>
              <a:off x="8321377" y="364180"/>
              <a:ext cx="52931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Calibri" panose="020F0502020204030204" pitchFamily="34" charset="0"/>
                </a:rPr>
                <a:t>OTHER</a:t>
              </a:r>
              <a:endParaRPr kumimoji="0" lang="en-150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2506CD6-828D-DF8A-803F-F22FD77B98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07070983"/>
              </p:ext>
            </p:extLst>
          </p:nvPr>
        </p:nvGraphicFramePr>
        <p:xfrm>
          <a:off x="168053" y="1118046"/>
          <a:ext cx="834327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897">
                  <a:extLst>
                    <a:ext uri="{9D8B030D-6E8A-4147-A177-3AD203B41FA5}">
                      <a16:colId xmlns:a16="http://schemas.microsoft.com/office/drawing/2014/main" val="3501560713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2016921908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3224385178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3663585671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1882446618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1756589229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869534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35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47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51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8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546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52728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306C2E80-A07D-F988-CFDC-30FB059C828C}"/>
              </a:ext>
            </a:extLst>
          </p:cNvPr>
          <p:cNvGrpSpPr/>
          <p:nvPr userDrawn="1"/>
        </p:nvGrpSpPr>
        <p:grpSpPr>
          <a:xfrm>
            <a:off x="5923933" y="286530"/>
            <a:ext cx="493263" cy="200055"/>
            <a:chOff x="6076333" y="370662"/>
            <a:chExt cx="493263" cy="200055"/>
          </a:xfrm>
        </p:grpSpPr>
        <p:sp>
          <p:nvSpPr>
            <p:cNvPr id="4" name="TelevisionLegendColor">
              <a:extLst>
                <a:ext uri="{FF2B5EF4-FFF2-40B4-BE49-F238E27FC236}">
                  <a16:creationId xmlns:a16="http://schemas.microsoft.com/office/drawing/2014/main" id="{E9307F6B-91EE-99FC-E0C2-DACC745613BB}"/>
                </a:ext>
              </a:extLst>
            </p:cNvPr>
            <p:cNvSpPr/>
            <p:nvPr userDrawn="1"/>
          </p:nvSpPr>
          <p:spPr>
            <a:xfrm>
              <a:off x="6076333" y="400519"/>
              <a:ext cx="236561" cy="1273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15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levisionLegendText">
              <a:extLst>
                <a:ext uri="{FF2B5EF4-FFF2-40B4-BE49-F238E27FC236}">
                  <a16:creationId xmlns:a16="http://schemas.microsoft.com/office/drawing/2014/main" id="{E1FFED5C-1949-28BB-F97E-FC71C7A1AFA2}"/>
                </a:ext>
              </a:extLst>
            </p:cNvPr>
            <p:cNvSpPr txBox="1"/>
            <p:nvPr userDrawn="1"/>
          </p:nvSpPr>
          <p:spPr>
            <a:xfrm>
              <a:off x="6255086" y="370662"/>
              <a:ext cx="3145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Calibri" panose="020F0502020204030204" pitchFamily="34" charset="0"/>
                </a:rPr>
                <a:t>TV</a:t>
              </a:r>
              <a:endParaRPr kumimoji="0" lang="en-150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260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9767CAB-9569-C38C-A2EA-C5A99FD652C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244368 w 9144000"/>
              <a:gd name="connsiteY0" fmla="*/ 50868 h 5143500"/>
              <a:gd name="connsiteX1" fmla="*/ 53890 w 9144000"/>
              <a:gd name="connsiteY1" fmla="*/ 241346 h 5143500"/>
              <a:gd name="connsiteX2" fmla="*/ 53890 w 9144000"/>
              <a:gd name="connsiteY2" fmla="*/ 4902154 h 5143500"/>
              <a:gd name="connsiteX3" fmla="*/ 244368 w 9144000"/>
              <a:gd name="connsiteY3" fmla="*/ 5092632 h 5143500"/>
              <a:gd name="connsiteX4" fmla="*/ 8616536 w 9144000"/>
              <a:gd name="connsiteY4" fmla="*/ 5092632 h 5143500"/>
              <a:gd name="connsiteX5" fmla="*/ 8807014 w 9144000"/>
              <a:gd name="connsiteY5" fmla="*/ 4902154 h 5143500"/>
              <a:gd name="connsiteX6" fmla="*/ 8807014 w 9144000"/>
              <a:gd name="connsiteY6" fmla="*/ 241346 h 5143500"/>
              <a:gd name="connsiteX7" fmla="*/ 8616536 w 9144000"/>
              <a:gd name="connsiteY7" fmla="*/ 50868 h 5143500"/>
              <a:gd name="connsiteX8" fmla="*/ 0 w 9144000"/>
              <a:gd name="connsiteY8" fmla="*/ 0 h 5143500"/>
              <a:gd name="connsiteX9" fmla="*/ 9144000 w 9144000"/>
              <a:gd name="connsiteY9" fmla="*/ 0 h 5143500"/>
              <a:gd name="connsiteX10" fmla="*/ 9144000 w 9144000"/>
              <a:gd name="connsiteY10" fmla="*/ 5143500 h 5143500"/>
              <a:gd name="connsiteX11" fmla="*/ 0 w 914400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44000" h="5143500">
                <a:moveTo>
                  <a:pt x="244368" y="50868"/>
                </a:moveTo>
                <a:cubicBezTo>
                  <a:pt x="139170" y="50868"/>
                  <a:pt x="53890" y="136148"/>
                  <a:pt x="53890" y="241346"/>
                </a:cubicBezTo>
                <a:lnTo>
                  <a:pt x="53890" y="4902154"/>
                </a:lnTo>
                <a:cubicBezTo>
                  <a:pt x="53890" y="5007352"/>
                  <a:pt x="139170" y="5092632"/>
                  <a:pt x="244368" y="5092632"/>
                </a:cubicBezTo>
                <a:lnTo>
                  <a:pt x="8616536" y="5092632"/>
                </a:lnTo>
                <a:cubicBezTo>
                  <a:pt x="8721734" y="5092632"/>
                  <a:pt x="8807014" y="5007352"/>
                  <a:pt x="8807014" y="4902154"/>
                </a:cubicBezTo>
                <a:lnTo>
                  <a:pt x="8807014" y="241346"/>
                </a:lnTo>
                <a:cubicBezTo>
                  <a:pt x="8807014" y="136148"/>
                  <a:pt x="8721734" y="50868"/>
                  <a:pt x="8616536" y="50868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355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38" userDrawn="1">
          <p15:clr>
            <a:srgbClr val="F26B43"/>
          </p15:clr>
        </p15:guide>
        <p15:guide id="2" pos="2789" userDrawn="1">
          <p15:clr>
            <a:srgbClr val="F26B43"/>
          </p15:clr>
        </p15:guide>
        <p15:guide id="3" orient="horz" pos="7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in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823"/>
              </p:ext>
            </p:extLst>
          </p:nvPr>
        </p:nvGraphicFramePr>
        <p:xfrm>
          <a:off x="163582" y="638117"/>
          <a:ext cx="8531095" cy="376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1384">
                  <a:extLst>
                    <a:ext uri="{9D8B030D-6E8A-4147-A177-3AD203B41FA5}">
                      <a16:colId xmlns:a16="http://schemas.microsoft.com/office/drawing/2014/main" val="3555653039"/>
                    </a:ext>
                  </a:extLst>
                </a:gridCol>
                <a:gridCol w="3382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0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05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4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59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550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759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0056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3759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04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44909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400567">
                  <a:extLst>
                    <a:ext uri="{9D8B030D-6E8A-4147-A177-3AD203B41FA5}">
                      <a16:colId xmlns:a16="http://schemas.microsoft.com/office/drawing/2014/main" val="381652606"/>
                    </a:ext>
                  </a:extLst>
                </a:gridCol>
                <a:gridCol w="400567">
                  <a:extLst>
                    <a:ext uri="{9D8B030D-6E8A-4147-A177-3AD203B41FA5}">
                      <a16:colId xmlns:a16="http://schemas.microsoft.com/office/drawing/2014/main" val="1770642203"/>
                    </a:ext>
                  </a:extLst>
                </a:gridCol>
              </a:tblGrid>
              <a:tr h="161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CAMPAIGN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MEDIA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METRICS</a:t>
                      </a:r>
                      <a:endParaRPr sz="750" b="1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JAN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FEB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MAR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APR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MAY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JUN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JUL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AUG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SEP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OCT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NOV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DEC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</a:t>
                      </a:r>
                      <a:endParaRPr sz="75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GRPs</a:t>
                      </a:r>
                      <a:endParaRPr sz="750" b="1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%</a:t>
                      </a:r>
                      <a:endParaRPr sz="750" b="1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ARMOUR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TELEVISION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£47K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£102K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5M / 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90%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GRP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362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9,000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Reach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@1+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OTS@3+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DIGITAL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£7K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£7K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£33K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£83K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£103K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£160K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£160K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YT Reach 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64686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META Reach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105729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TT Reach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79017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OOH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£146K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RADIO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£91K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£146K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920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MONTHLY TOTAL </a:t>
                      </a:r>
                      <a:r>
                        <a:rPr lang="en-US" sz="650" b="1" kern="12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(£ 000)</a:t>
                      </a:r>
                      <a:endParaRPr sz="650" b="1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45K</a:t>
                      </a:r>
                      <a:endParaRPr sz="65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650" b="1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804736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MEERKAT</a:t>
                      </a:r>
                      <a:endParaRPr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TELEVISION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£47K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£102K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3M / 55%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637841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GRP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362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9,000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822858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Reach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@1+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73706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OTS@3+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754576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DIGITAL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£7K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£7K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£33K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£83K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£103K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£160K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£160K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601372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YT Reach 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61303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META Reach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835215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TT Reach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78854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OOH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£146K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180423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RADIO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£91K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£146K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20358"/>
                  </a:ext>
                </a:extLst>
              </a:tr>
              <a:tr h="9920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MONTHLY TOTAL </a:t>
                      </a:r>
                      <a:r>
                        <a:rPr lang="en-US" sz="650" b="1" kern="12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(£ 000)</a:t>
                      </a:r>
                      <a:endParaRPr sz="650" b="1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45K</a:t>
                      </a:r>
                      <a:endParaRPr sz="65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650" b="1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683833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FACES</a:t>
                      </a:r>
                      <a:endParaRPr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TELEVISION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£47K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£102K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2M / 45%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89895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GRP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362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900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9,000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183489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Reach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@1+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68%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63%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85320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OTS@3+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243814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DIGITAL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£7K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£7K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£33K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£83K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£103K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£160K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£160K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272318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YT Reach 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58932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META Reach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966219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TT Reach</a:t>
                      </a: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sz="7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69%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65%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70%</a:t>
                      </a:r>
                      <a:endParaRPr sz="700" b="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50%</a:t>
                      </a:r>
                      <a:endParaRPr sz="700" b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275659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OOH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£146K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571385"/>
                  </a:ext>
                </a:extLst>
              </a:tr>
              <a:tr h="9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150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RADIO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£ 000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£91K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£34K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£80K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£68K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£146K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  <a:endParaRPr sz="700" b="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150" dirty="0"/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528661"/>
                  </a:ext>
                </a:extLst>
              </a:tr>
              <a:tr h="9920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MONTHLY TOTAL </a:t>
                      </a:r>
                      <a:r>
                        <a:rPr lang="en-US" sz="650" b="1" kern="12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(£ 000)</a:t>
                      </a:r>
                      <a:endParaRPr sz="650" b="1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45K</a:t>
                      </a:r>
                      <a:endParaRPr sz="650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90K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51K</a:t>
                      </a:r>
                      <a:endParaRPr sz="65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650" b="1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14406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GRAND TOTAL</a:t>
                      </a:r>
                      <a:endParaRPr sz="700" b="1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£7K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£12K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£59K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£114K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£158K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£236K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£226K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£123K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£89K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£271K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£89K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£451K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9,000</a:t>
                      </a:r>
                      <a:endParaRPr sz="700" b="1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100%</a:t>
                      </a:r>
                      <a:endParaRPr sz="700" b="1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QuarterBudgetQ1">
            <a:extLst>
              <a:ext uri="{FF2B5EF4-FFF2-40B4-BE49-F238E27FC236}">
                <a16:creationId xmlns:a16="http://schemas.microsoft.com/office/drawing/2014/main" id="{D28C1874-98AC-0977-2FDC-2872982E1B71}"/>
              </a:ext>
            </a:extLst>
          </p:cNvPr>
          <p:cNvSpPr/>
          <p:nvPr/>
        </p:nvSpPr>
        <p:spPr>
          <a:xfrm>
            <a:off x="2522053" y="4462276"/>
            <a:ext cx="1132611" cy="117317"/>
          </a:xfrm>
          <a:prstGeom prst="rect">
            <a:avLst/>
          </a:prstGeom>
          <a:solidFill>
            <a:srgbClr val="30EA0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Q1: £55K</a:t>
            </a:r>
          </a:p>
        </p:txBody>
      </p:sp>
      <p:sp>
        <p:nvSpPr>
          <p:cNvPr id="16" name="MediaShareTelevision">
            <a:extLst>
              <a:ext uri="{FF2B5EF4-FFF2-40B4-BE49-F238E27FC236}">
                <a16:creationId xmlns:a16="http://schemas.microsoft.com/office/drawing/2014/main" id="{918A15D0-037D-B569-9096-77AA8EF47AB4}"/>
              </a:ext>
            </a:extLst>
          </p:cNvPr>
          <p:cNvSpPr/>
          <p:nvPr/>
        </p:nvSpPr>
        <p:spPr>
          <a:xfrm>
            <a:off x="163582" y="4695983"/>
            <a:ext cx="1132611" cy="1173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TV: 55%</a:t>
            </a:r>
            <a:endParaRPr lang="en-150" sz="7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MediaShareDigital">
            <a:extLst>
              <a:ext uri="{FF2B5EF4-FFF2-40B4-BE49-F238E27FC236}">
                <a16:creationId xmlns:a16="http://schemas.microsoft.com/office/drawing/2014/main" id="{D1F128C2-F2B8-CF56-C923-45E66C90056F}"/>
              </a:ext>
            </a:extLst>
          </p:cNvPr>
          <p:cNvSpPr/>
          <p:nvPr/>
        </p:nvSpPr>
        <p:spPr>
          <a:xfrm>
            <a:off x="1342818" y="4695984"/>
            <a:ext cx="1132611" cy="1173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DIG. 20%</a:t>
            </a:r>
            <a:endParaRPr lang="en-150" sz="7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MediaShareOther">
            <a:extLst>
              <a:ext uri="{FF2B5EF4-FFF2-40B4-BE49-F238E27FC236}">
                <a16:creationId xmlns:a16="http://schemas.microsoft.com/office/drawing/2014/main" id="{0BC98509-C81E-3CF0-A6F2-E1D974265AE9}"/>
              </a:ext>
            </a:extLst>
          </p:cNvPr>
          <p:cNvSpPr/>
          <p:nvPr/>
        </p:nvSpPr>
        <p:spPr>
          <a:xfrm>
            <a:off x="2522053" y="4695983"/>
            <a:ext cx="1132611" cy="1173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OTHER: 25%</a:t>
            </a:r>
            <a:endParaRPr lang="en-150" sz="7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FunnelShareAwareness">
            <a:extLst>
              <a:ext uri="{FF2B5EF4-FFF2-40B4-BE49-F238E27FC236}">
                <a16:creationId xmlns:a16="http://schemas.microsoft.com/office/drawing/2014/main" id="{76DE4371-5709-FD4F-FE69-FD33B91BD922}"/>
              </a:ext>
            </a:extLst>
          </p:cNvPr>
          <p:cNvSpPr/>
          <p:nvPr/>
        </p:nvSpPr>
        <p:spPr>
          <a:xfrm>
            <a:off x="5512168" y="4695983"/>
            <a:ext cx="1027803" cy="117317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AWA: 50%</a:t>
            </a:r>
            <a:endParaRPr lang="en-150" sz="7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FunnelShareConsideration">
            <a:extLst>
              <a:ext uri="{FF2B5EF4-FFF2-40B4-BE49-F238E27FC236}">
                <a16:creationId xmlns:a16="http://schemas.microsoft.com/office/drawing/2014/main" id="{4408EE6F-6C92-05D2-DE88-FA2ADB0C6D6F}"/>
              </a:ext>
            </a:extLst>
          </p:cNvPr>
          <p:cNvSpPr/>
          <p:nvPr/>
        </p:nvSpPr>
        <p:spPr>
          <a:xfrm>
            <a:off x="6589521" y="4695983"/>
            <a:ext cx="1027803" cy="117317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CON: 30%</a:t>
            </a:r>
            <a:endParaRPr lang="en-150" sz="7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FunnelSharePurchase">
            <a:extLst>
              <a:ext uri="{FF2B5EF4-FFF2-40B4-BE49-F238E27FC236}">
                <a16:creationId xmlns:a16="http://schemas.microsoft.com/office/drawing/2014/main" id="{65728218-FE5E-186A-821C-A7E92928ADED}"/>
              </a:ext>
            </a:extLst>
          </p:cNvPr>
          <p:cNvSpPr/>
          <p:nvPr/>
        </p:nvSpPr>
        <p:spPr>
          <a:xfrm>
            <a:off x="7666874" y="4695983"/>
            <a:ext cx="1027803" cy="117317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PUR: 20%</a:t>
            </a:r>
            <a:endParaRPr lang="en-150" sz="7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QuarterBudgetQ2">
            <a:extLst>
              <a:ext uri="{FF2B5EF4-FFF2-40B4-BE49-F238E27FC236}">
                <a16:creationId xmlns:a16="http://schemas.microsoft.com/office/drawing/2014/main" id="{944C47BD-9293-2FB6-B3C4-69EE85DB3C2A}"/>
              </a:ext>
            </a:extLst>
          </p:cNvPr>
          <p:cNvSpPr/>
          <p:nvPr/>
        </p:nvSpPr>
        <p:spPr>
          <a:xfrm>
            <a:off x="3785305" y="4462276"/>
            <a:ext cx="1132611" cy="117316"/>
          </a:xfrm>
          <a:prstGeom prst="rect">
            <a:avLst/>
          </a:prstGeom>
          <a:solidFill>
            <a:srgbClr val="30EA0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Q2: £150K</a:t>
            </a:r>
          </a:p>
        </p:txBody>
      </p:sp>
      <p:sp>
        <p:nvSpPr>
          <p:cNvPr id="4" name="QuarterBudgetQ3">
            <a:extLst>
              <a:ext uri="{FF2B5EF4-FFF2-40B4-BE49-F238E27FC236}">
                <a16:creationId xmlns:a16="http://schemas.microsoft.com/office/drawing/2014/main" id="{52502BD4-8A6E-F0A6-589C-8EEB32D1E67B}"/>
              </a:ext>
            </a:extLst>
          </p:cNvPr>
          <p:cNvSpPr/>
          <p:nvPr/>
        </p:nvSpPr>
        <p:spPr>
          <a:xfrm>
            <a:off x="5048557" y="4462276"/>
            <a:ext cx="1132611" cy="117316"/>
          </a:xfrm>
          <a:prstGeom prst="rect">
            <a:avLst/>
          </a:prstGeom>
          <a:solidFill>
            <a:srgbClr val="30EA0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Q3: £200K</a:t>
            </a:r>
          </a:p>
        </p:txBody>
      </p:sp>
      <p:sp>
        <p:nvSpPr>
          <p:cNvPr id="6" name="QuarterBudgetQ4">
            <a:extLst>
              <a:ext uri="{FF2B5EF4-FFF2-40B4-BE49-F238E27FC236}">
                <a16:creationId xmlns:a16="http://schemas.microsoft.com/office/drawing/2014/main" id="{95BFC934-FDBC-289C-1A20-0F4DB13E1959}"/>
              </a:ext>
            </a:extLst>
          </p:cNvPr>
          <p:cNvSpPr/>
          <p:nvPr/>
        </p:nvSpPr>
        <p:spPr>
          <a:xfrm>
            <a:off x="6311809" y="4462276"/>
            <a:ext cx="1132611" cy="117316"/>
          </a:xfrm>
          <a:prstGeom prst="rect">
            <a:avLst/>
          </a:prstGeom>
          <a:solidFill>
            <a:srgbClr val="30EA0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Q4: £160K</a:t>
            </a:r>
          </a:p>
        </p:txBody>
      </p:sp>
      <p:sp>
        <p:nvSpPr>
          <p:cNvPr id="7" name="FooterNotes">
            <a:extLst>
              <a:ext uri="{FF2B5EF4-FFF2-40B4-BE49-F238E27FC236}">
                <a16:creationId xmlns:a16="http://schemas.microsoft.com/office/drawing/2014/main" id="{A3983144-D521-51FE-2C58-C29E61F00010}"/>
              </a:ext>
            </a:extLst>
          </p:cNvPr>
          <p:cNvSpPr txBox="1"/>
          <p:nvPr/>
        </p:nvSpPr>
        <p:spPr>
          <a:xfrm>
            <a:off x="80055" y="4850257"/>
            <a:ext cx="3278462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5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Source: </a:t>
            </a:r>
            <a:r>
              <a:rPr lang="en-US" sz="5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DD_MM_YY_Lumina Export. </a:t>
            </a:r>
          </a:p>
          <a:p>
            <a:r>
              <a:rPr lang="en-US" sz="5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Note</a:t>
            </a:r>
            <a:r>
              <a:rPr lang="en-US" sz="5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 Digital Reach only for TOP channels and Awareness stage only. Cost: ALL digital channels</a:t>
            </a:r>
            <a:endParaRPr lang="en-150" sz="5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aleon Template">
  <a:themeElements>
    <a:clrScheme name="Custom 28">
      <a:dk1>
        <a:srgbClr val="000000"/>
      </a:dk1>
      <a:lt1>
        <a:srgbClr val="FFFFFF"/>
      </a:lt1>
      <a:dk2>
        <a:srgbClr val="E7E7EB"/>
      </a:dk2>
      <a:lt2>
        <a:srgbClr val="D0D3D3"/>
      </a:lt2>
      <a:accent1>
        <a:srgbClr val="30EA03"/>
      </a:accent1>
      <a:accent2>
        <a:srgbClr val="8D979D"/>
      </a:accent2>
      <a:accent3>
        <a:srgbClr val="333F48"/>
      </a:accent3>
      <a:accent4>
        <a:srgbClr val="BDAB78"/>
      </a:accent4>
      <a:accent5>
        <a:srgbClr val="B96EFF"/>
      </a:accent5>
      <a:accent6>
        <a:srgbClr val="0EE2DA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6350">
          <a:solidFill>
            <a:schemeClr val="accent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 anchor="ctr">
        <a:spAutoFit/>
      </a:bodyPr>
      <a:lstStyle>
        <a:defPPr algn="ctr">
          <a:defRPr sz="600" dirty="0" err="1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8bd154e-43c2-4e27-970d-364dfb6c3a5f">
      <UserInfo>
        <DisplayName>Catarina Santos</DisplayName>
        <AccountId>49</AccountId>
        <AccountType/>
      </UserInfo>
      <UserInfo>
        <DisplayName>Kristina von Gerichten</DisplayName>
        <AccountId>17</AccountId>
        <AccountType/>
      </UserInfo>
    </SharedWithUsers>
    <lcf76f155ced4ddcb4097134ff3c332f xmlns="4bea254a-0a54-4d26-bcac-3e65af882393">
      <Terms xmlns="http://schemas.microsoft.com/office/infopath/2007/PartnerControls"/>
    </lcf76f155ced4ddcb4097134ff3c332f>
    <TaxCatchAll xmlns="88bd154e-43c2-4e27-970d-364dfb6c3a5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B71CEA3B79BD47BC8B69EE5C2E916B" ma:contentTypeVersion="16" ma:contentTypeDescription="Create a new document." ma:contentTypeScope="" ma:versionID="8b653df2cf714c40e936f253a2395d25">
  <xsd:schema xmlns:xsd="http://www.w3.org/2001/XMLSchema" xmlns:xs="http://www.w3.org/2001/XMLSchema" xmlns:p="http://schemas.microsoft.com/office/2006/metadata/properties" xmlns:ns2="4bea254a-0a54-4d26-bcac-3e65af882393" xmlns:ns3="88bd154e-43c2-4e27-970d-364dfb6c3a5f" targetNamespace="http://schemas.microsoft.com/office/2006/metadata/properties" ma:root="true" ma:fieldsID="1eb9368585478f0f16c06686db9898e0" ns2:_="" ns3:_="">
    <xsd:import namespace="4bea254a-0a54-4d26-bcac-3e65af882393"/>
    <xsd:import namespace="88bd154e-43c2-4e27-970d-364dfb6c3a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ea254a-0a54-4d26-bcac-3e65af882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ac8439e-0f4c-460c-87ac-674f609d5c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d154e-43c2-4e27-970d-364dfb6c3a5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8b4bbd8-b01d-4747-bb87-47a58e215ffc}" ma:internalName="TaxCatchAll" ma:showField="CatchAllData" ma:web="88bd154e-43c2-4e27-970d-364dfb6c3a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24AD3E-BF0E-46AF-A873-A7059636D0C2}">
  <ds:schemaRefs>
    <ds:schemaRef ds:uri="http://schemas.microsoft.com/office/infopath/2007/PartnerControls"/>
    <ds:schemaRef ds:uri="http://schemas.openxmlformats.org/package/2006/metadata/core-properties"/>
    <ds:schemaRef ds:uri="88bd154e-43c2-4e27-970d-364dfb6c3a5f"/>
    <ds:schemaRef ds:uri="http://schemas.microsoft.com/office/2006/documentManagement/types"/>
    <ds:schemaRef ds:uri="4bea254a-0a54-4d26-bcac-3e65af882393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A6EDE11-362F-40BD-8300-3A27A79DAE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83117D-3C48-4F57-B249-63D855B95F89}">
  <ds:schemaRefs>
    <ds:schemaRef ds:uri="4bea254a-0a54-4d26-bcac-3e65af882393"/>
    <ds:schemaRef ds:uri="88bd154e-43c2-4e27-970d-364dfb6c3a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15149</TotalTime>
  <Words>958</Words>
  <Application>Microsoft Office PowerPoint</Application>
  <PresentationFormat>On-screen Show (16:9)</PresentationFormat>
  <Paragraphs>599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(Body)</vt:lpstr>
      <vt:lpstr>Verdana</vt:lpstr>
      <vt:lpstr>1_Haleon Template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Playground for Dan</dc:title>
  <dc:subject>PptxGenJS Presentation</dc:subject>
  <dc:creator>Pitch Software GmbH</dc:creator>
  <cp:lastModifiedBy>Alexandru Grama</cp:lastModifiedBy>
  <cp:revision>73</cp:revision>
  <cp:lastPrinted>2024-01-22T10:56:18Z</cp:lastPrinted>
  <dcterms:created xsi:type="dcterms:W3CDTF">2023-03-07T09:52:31Z</dcterms:created>
  <dcterms:modified xsi:type="dcterms:W3CDTF">2025-10-29T08:29:09Z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0x010100624942C2C0151646B94BF164236321E8</vt:lpwstr>
  </property>
  <property fmtid="{D5CDD505-2E9C-101B-9397-08002B2CF9AE}" pid="3" name="MediaServiceImageTags">
    <vt:lpwstr/>
  </property>
</Properties>
</file>